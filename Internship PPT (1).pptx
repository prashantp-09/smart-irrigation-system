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3"/>
  </p:notesMasterIdLst>
  <p:sldIdLst>
    <p:sldId id="256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6AD400-3763-4E0A-AD10-1EC773BB9281}" v="27" dt="2026-01-13T14:27:07.4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abh Shukla 23SCSE1010088" userId="aab44395-94c7-4867-af99-29da6f9f7118" providerId="ADAL" clId="{5A31D757-2A64-471B-87A8-0BCC620EA071}"/>
    <pc:docChg chg="undo redo custSel addSld delSld modSld">
      <pc:chgData name="Rishabh Shukla 23SCSE1010088" userId="aab44395-94c7-4867-af99-29da6f9f7118" providerId="ADAL" clId="{5A31D757-2A64-471B-87A8-0BCC620EA071}" dt="2026-01-14T06:28:30.070" v="4276" actId="20577"/>
      <pc:docMkLst>
        <pc:docMk/>
      </pc:docMkLst>
      <pc:sldChg chg="modSp mod">
        <pc:chgData name="Rishabh Shukla 23SCSE1010088" userId="aab44395-94c7-4867-af99-29da6f9f7118" providerId="ADAL" clId="{5A31D757-2A64-471B-87A8-0BCC620EA071}" dt="2026-01-13T14:07:56.587" v="3733" actId="20577"/>
        <pc:sldMkLst>
          <pc:docMk/>
          <pc:sldMk cId="4018931081" sldId="256"/>
        </pc:sldMkLst>
        <pc:spChg chg="mod">
          <ac:chgData name="Rishabh Shukla 23SCSE1010088" userId="aab44395-94c7-4867-af99-29da6f9f7118" providerId="ADAL" clId="{5A31D757-2A64-471B-87A8-0BCC620EA071}" dt="2026-01-13T14:07:56.587" v="3733" actId="20577"/>
          <ac:spMkLst>
            <pc:docMk/>
            <pc:sldMk cId="4018931081" sldId="256"/>
            <ac:spMk id="2" creationId="{9DF96E58-AD99-FC99-0E36-C7819AA32AA1}"/>
          </ac:spMkLst>
        </pc:spChg>
      </pc:sldChg>
      <pc:sldChg chg="modSp mod">
        <pc:chgData name="Rishabh Shukla 23SCSE1010088" userId="aab44395-94c7-4867-af99-29da6f9f7118" providerId="ADAL" clId="{5A31D757-2A64-471B-87A8-0BCC620EA071}" dt="2026-01-13T14:09:22.582" v="3790" actId="20577"/>
        <pc:sldMkLst>
          <pc:docMk/>
          <pc:sldMk cId="3947392540" sldId="271"/>
        </pc:sldMkLst>
        <pc:spChg chg="mod">
          <ac:chgData name="Rishabh Shukla 23SCSE1010088" userId="aab44395-94c7-4867-af99-29da6f9f7118" providerId="ADAL" clId="{5A31D757-2A64-471B-87A8-0BCC620EA071}" dt="2026-01-13T14:09:22.582" v="3790" actId="20577"/>
          <ac:spMkLst>
            <pc:docMk/>
            <pc:sldMk cId="3947392540" sldId="271"/>
            <ac:spMk id="7" creationId="{5E1C9F12-2822-8637-8EE3-59216C547D10}"/>
          </ac:spMkLst>
        </pc:spChg>
        <pc:spChg chg="mod">
          <ac:chgData name="Rishabh Shukla 23SCSE1010088" userId="aab44395-94c7-4867-af99-29da6f9f7118" providerId="ADAL" clId="{5A31D757-2A64-471B-87A8-0BCC620EA071}" dt="2026-01-13T14:09:00.558" v="3763" actId="20577"/>
          <ac:spMkLst>
            <pc:docMk/>
            <pc:sldMk cId="3947392540" sldId="271"/>
            <ac:spMk id="10" creationId="{D1C4EEE2-0582-AE99-6713-AD57D2460316}"/>
          </ac:spMkLst>
        </pc:spChg>
      </pc:sldChg>
      <pc:sldChg chg="modSp mod">
        <pc:chgData name="Rishabh Shukla 23SCSE1010088" userId="aab44395-94c7-4867-af99-29da6f9f7118" providerId="ADAL" clId="{5A31D757-2A64-471B-87A8-0BCC620EA071}" dt="2026-01-13T14:27:50.571" v="4270" actId="20577"/>
        <pc:sldMkLst>
          <pc:docMk/>
          <pc:sldMk cId="4108805815" sldId="272"/>
        </pc:sldMkLst>
        <pc:spChg chg="mod">
          <ac:chgData name="Rishabh Shukla 23SCSE1010088" userId="aab44395-94c7-4867-af99-29da6f9f7118" providerId="ADAL" clId="{5A31D757-2A64-471B-87A8-0BCC620EA071}" dt="2026-01-13T14:27:50.571" v="4270" actId="20577"/>
          <ac:spMkLst>
            <pc:docMk/>
            <pc:sldMk cId="4108805815" sldId="272"/>
            <ac:spMk id="6" creationId="{625BA169-FFDD-09F7-F550-49D4F37F0EA0}"/>
          </ac:spMkLst>
        </pc:spChg>
      </pc:sldChg>
      <pc:sldChg chg="addSp modSp mod">
        <pc:chgData name="Rishabh Shukla 23SCSE1010088" userId="aab44395-94c7-4867-af99-29da6f9f7118" providerId="ADAL" clId="{5A31D757-2A64-471B-87A8-0BCC620EA071}" dt="2026-01-13T14:16:35.504" v="4115" actId="255"/>
        <pc:sldMkLst>
          <pc:docMk/>
          <pc:sldMk cId="3103362326" sldId="275"/>
        </pc:sldMkLst>
        <pc:spChg chg="add">
          <ac:chgData name="Rishabh Shukla 23SCSE1010088" userId="aab44395-94c7-4867-af99-29da6f9f7118" providerId="ADAL" clId="{5A31D757-2A64-471B-87A8-0BCC620EA071}" dt="2026-01-13T14:13:59.047" v="3888"/>
          <ac:spMkLst>
            <pc:docMk/>
            <pc:sldMk cId="3103362326" sldId="275"/>
            <ac:spMk id="3" creationId="{1401815A-7A51-7398-A38C-24B7C8AD9422}"/>
          </ac:spMkLst>
        </pc:spChg>
        <pc:spChg chg="mod">
          <ac:chgData name="Rishabh Shukla 23SCSE1010088" userId="aab44395-94c7-4867-af99-29da6f9f7118" providerId="ADAL" clId="{5A31D757-2A64-471B-87A8-0BCC620EA071}" dt="2026-01-13T14:16:35.504" v="4115" actId="255"/>
          <ac:spMkLst>
            <pc:docMk/>
            <pc:sldMk cId="3103362326" sldId="275"/>
            <ac:spMk id="4" creationId="{94E92EEA-E5DF-BAD7-AE74-64FCC133D81D}"/>
          </ac:spMkLst>
        </pc:spChg>
        <pc:spChg chg="add mod">
          <ac:chgData name="Rishabh Shukla 23SCSE1010088" userId="aab44395-94c7-4867-af99-29da6f9f7118" providerId="ADAL" clId="{5A31D757-2A64-471B-87A8-0BCC620EA071}" dt="2026-01-13T14:14:05.484" v="3891"/>
          <ac:spMkLst>
            <pc:docMk/>
            <pc:sldMk cId="3103362326" sldId="275"/>
            <ac:spMk id="5" creationId="{1B32A603-123D-7848-EBFB-A287B3875D19}"/>
          </ac:spMkLst>
        </pc:spChg>
        <pc:spChg chg="add">
          <ac:chgData name="Rishabh Shukla 23SCSE1010088" userId="aab44395-94c7-4867-af99-29da6f9f7118" providerId="ADAL" clId="{5A31D757-2A64-471B-87A8-0BCC620EA071}" dt="2026-01-13T14:14:08.429" v="3895"/>
          <ac:spMkLst>
            <pc:docMk/>
            <pc:sldMk cId="3103362326" sldId="275"/>
            <ac:spMk id="6" creationId="{39D9AC64-705B-C0B7-CC30-ADF159B8EEBA}"/>
          </ac:spMkLst>
        </pc:spChg>
      </pc:sldChg>
      <pc:sldChg chg="modSp mod">
        <pc:chgData name="Rishabh Shukla 23SCSE1010088" userId="aab44395-94c7-4867-af99-29da6f9f7118" providerId="ADAL" clId="{5A31D757-2A64-471B-87A8-0BCC620EA071}" dt="2026-01-14T06:28:30.070" v="4276" actId="20577"/>
        <pc:sldMkLst>
          <pc:docMk/>
          <pc:sldMk cId="3736368152" sldId="276"/>
        </pc:sldMkLst>
        <pc:spChg chg="mod">
          <ac:chgData name="Rishabh Shukla 23SCSE1010088" userId="aab44395-94c7-4867-af99-29da6f9f7118" providerId="ADAL" clId="{5A31D757-2A64-471B-87A8-0BCC620EA071}" dt="2026-01-14T06:28:30.070" v="4276" actId="20577"/>
          <ac:spMkLst>
            <pc:docMk/>
            <pc:sldMk cId="3736368152" sldId="276"/>
            <ac:spMk id="6" creationId="{F4FF8460-A98C-CF01-0588-C482C80D8216}"/>
          </ac:spMkLst>
        </pc:spChg>
      </pc:sldChg>
      <pc:sldChg chg="modSp mod">
        <pc:chgData name="Rishabh Shukla 23SCSE1010088" userId="aab44395-94c7-4867-af99-29da6f9f7118" providerId="ADAL" clId="{5A31D757-2A64-471B-87A8-0BCC620EA071}" dt="2026-01-13T14:25:19.344" v="4230" actId="14100"/>
        <pc:sldMkLst>
          <pc:docMk/>
          <pc:sldMk cId="2905075259" sldId="279"/>
        </pc:sldMkLst>
        <pc:spChg chg="mod">
          <ac:chgData name="Rishabh Shukla 23SCSE1010088" userId="aab44395-94c7-4867-af99-29da6f9f7118" providerId="ADAL" clId="{5A31D757-2A64-471B-87A8-0BCC620EA071}" dt="2026-01-13T14:24:57.700" v="4226" actId="20577"/>
          <ac:spMkLst>
            <pc:docMk/>
            <pc:sldMk cId="2905075259" sldId="279"/>
            <ac:spMk id="3" creationId="{93B06AA9-2F43-6509-8C61-9946B1066C52}"/>
          </ac:spMkLst>
        </pc:spChg>
        <pc:picChg chg="mod">
          <ac:chgData name="Rishabh Shukla 23SCSE1010088" userId="aab44395-94c7-4867-af99-29da6f9f7118" providerId="ADAL" clId="{5A31D757-2A64-471B-87A8-0BCC620EA071}" dt="2026-01-13T14:25:19.344" v="4230" actId="14100"/>
          <ac:picMkLst>
            <pc:docMk/>
            <pc:sldMk cId="2905075259" sldId="279"/>
            <ac:picMk id="5123" creationId="{506125FB-78A5-BE87-7022-E5A338A51D3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3764A-2105-4266-967C-47C8DF55AC56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67DA58-85D8-48D2-8E2B-801173957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730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67DA58-85D8-48D2-8E2B-8011739572A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2353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67DA58-85D8-48D2-8E2B-8011739572A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942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3F40-E820-4B04-9BF0-13D7003497CF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E5AE3-75A4-4CE5-9598-919274983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133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3F40-E820-4B04-9BF0-13D7003497CF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E5AE3-75A4-4CE5-9598-919274983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250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3F40-E820-4B04-9BF0-13D7003497CF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E5AE3-75A4-4CE5-9598-919274983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40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3F40-E820-4B04-9BF0-13D7003497CF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E5AE3-75A4-4CE5-9598-919274983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465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3F40-E820-4B04-9BF0-13D7003497CF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E5AE3-75A4-4CE5-9598-919274983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6622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3F40-E820-4B04-9BF0-13D7003497CF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E5AE3-75A4-4CE5-9598-919274983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542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3F40-E820-4B04-9BF0-13D7003497CF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E5AE3-75A4-4CE5-9598-919274983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913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3F40-E820-4B04-9BF0-13D7003497CF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E5AE3-75A4-4CE5-9598-919274983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700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3F40-E820-4B04-9BF0-13D7003497CF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E5AE3-75A4-4CE5-9598-919274983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8955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3F40-E820-4B04-9BF0-13D7003497CF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E5AE3-75A4-4CE5-9598-919274983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5635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3F40-E820-4B04-9BF0-13D7003497CF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E5AE3-75A4-4CE5-9598-919274983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009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A83F40-E820-4B04-9BF0-13D7003497CF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BE5AE3-75A4-4CE5-9598-919274983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894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96E58-AD99-FC99-0E36-C7819AA32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96645" y="1954026"/>
            <a:ext cx="12192000" cy="2949948"/>
          </a:xfrm>
        </p:spPr>
        <p:txBody>
          <a:bodyPr>
            <a:normAutofit/>
          </a:bodyPr>
          <a:lstStyle/>
          <a:p>
            <a:r>
              <a:rPr lang="en-US" sz="4500" b="1" dirty="0">
                <a:latin typeface="Adobe Arabic" panose="02040503050201020203" pitchFamily="18" charset="-78"/>
                <a:cs typeface="Adobe Arabic" panose="02040503050201020203" pitchFamily="18" charset="-78"/>
              </a:rPr>
              <a:t>BTech in Computer Science </a:t>
            </a:r>
            <a:br>
              <a:rPr lang="en-US" sz="4500" b="1" dirty="0">
                <a:latin typeface="Adobe Arabic" panose="02040503050201020203" pitchFamily="18" charset="-78"/>
                <a:cs typeface="Adobe Arabic" panose="02040503050201020203" pitchFamily="18" charset="-78"/>
              </a:rPr>
            </a:br>
            <a:r>
              <a:rPr lang="en-US" sz="4500" b="1" dirty="0">
                <a:latin typeface="Adobe Arabic" panose="02040503050201020203" pitchFamily="18" charset="-78"/>
                <a:cs typeface="Adobe Arabic" panose="02040503050201020203" pitchFamily="18" charset="-78"/>
              </a:rPr>
              <a:t>And Engineering</a:t>
            </a:r>
            <a:br>
              <a:rPr lang="en-US" b="1" dirty="0">
                <a:latin typeface="Adobe Arabic" panose="02040503050201020203" pitchFamily="18" charset="-78"/>
                <a:cs typeface="Adobe Arabic" panose="02040503050201020203" pitchFamily="18" charset="-78"/>
              </a:rPr>
            </a:br>
            <a:r>
              <a:rPr lang="en-US" sz="3600" dirty="0">
                <a:solidFill>
                  <a:srgbClr val="0070C0"/>
                </a:solidFill>
                <a:latin typeface="Arial Black" panose="020B0A04020102020204" pitchFamily="34" charset="0"/>
                <a:cs typeface="Adobe Arabic" panose="02040503050201020203" pitchFamily="18" charset="-78"/>
              </a:rPr>
              <a:t>Industry Internship Report</a:t>
            </a:r>
            <a:br>
              <a:rPr lang="en-US" sz="3600" dirty="0">
                <a:solidFill>
                  <a:srgbClr val="0070C0"/>
                </a:solidFill>
                <a:latin typeface="Arial Black" panose="020B0A04020102020204" pitchFamily="34" charset="0"/>
                <a:cs typeface="Adobe Arabic" panose="02040503050201020203" pitchFamily="18" charset="-78"/>
              </a:rPr>
            </a:br>
            <a:br>
              <a:rPr lang="en-US" sz="2500" b="1" dirty="0">
                <a:solidFill>
                  <a:srgbClr val="0070C0"/>
                </a:solidFill>
                <a:latin typeface="Arial Black" panose="020B0A04020102020204" pitchFamily="34" charset="0"/>
                <a:cs typeface="Adobe Arabic" panose="02040503050201020203" pitchFamily="18" charset="-78"/>
              </a:rPr>
            </a:br>
            <a:r>
              <a:rPr lang="en-IN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Virtual Internship</a:t>
            </a:r>
            <a:endParaRPr lang="en-IN" sz="3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DF2BC6-92E0-DC9B-14E2-7C3BF9C0A2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5780015"/>
            <a:ext cx="4857227" cy="954231"/>
          </a:xfrm>
        </p:spPr>
        <p:txBody>
          <a:bodyPr>
            <a:normAutofit/>
          </a:bodyPr>
          <a:lstStyle/>
          <a:p>
            <a:r>
              <a:rPr 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Rishabh Shukla</a:t>
            </a:r>
          </a:p>
          <a:p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en-US" sz="23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(23SCSE1010088)</a:t>
            </a:r>
            <a:r>
              <a:rPr lang="en-US" sz="2000" dirty="0">
                <a:solidFill>
                  <a:schemeClr val="tx1"/>
                </a:solidFill>
                <a:latin typeface="Arial Black" panose="020B0A04020102020204" pitchFamily="34" charset="0"/>
              </a:rPr>
              <a:t>                                                                             </a:t>
            </a:r>
            <a:r>
              <a:rPr lang="en-US" sz="2000" dirty="0">
                <a:latin typeface="Arial Black" panose="020B0A04020102020204" pitchFamily="34" charset="0"/>
              </a:rPr>
              <a:t>                                                                                                                   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FEBC5E-4E06-C59C-FE71-3374808752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" y="219075"/>
            <a:ext cx="11260183" cy="124899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18931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E1C9F12-2822-8637-8EE3-59216C547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08226" cy="480448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4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 INTERNSHIP SUMMARY 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             </a:t>
            </a:r>
            <a:r>
              <a:rPr lang="en-IN" sz="3900" b="1" dirty="0">
                <a:solidFill>
                  <a:schemeClr val="accent4"/>
                </a:solidFill>
                <a:latin typeface="+mn-lt"/>
              </a:rPr>
              <a:t>Cloud Virtual Internship</a:t>
            </a:r>
            <a:br>
              <a:rPr lang="en-IN" sz="3900" b="1" dirty="0">
                <a:solidFill>
                  <a:schemeClr val="accent4"/>
                </a:solidFill>
                <a:latin typeface="+mn-lt"/>
              </a:rPr>
            </a:br>
            <a:endParaRPr lang="en-IN" sz="3900" b="1" dirty="0">
              <a:solidFill>
                <a:schemeClr val="accent4"/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C4EEE2-0582-AE99-6713-AD57D2460316}"/>
              </a:ext>
            </a:extLst>
          </p:cNvPr>
          <p:cNvSpPr txBox="1"/>
          <p:nvPr/>
        </p:nvSpPr>
        <p:spPr>
          <a:xfrm>
            <a:off x="838200" y="2376467"/>
            <a:ext cx="10685206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 Name:                     </a:t>
            </a: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Rishabh Shukla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University: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kumimoji="0" lang="en-US" altLang="en-US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Galgotias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University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Internship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Program: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Data Engineering Virtual Internship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Duration: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 weeks( October- December 2025)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Coordinating Bodies: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AICTE - </a:t>
            </a:r>
            <a:r>
              <a:rPr kumimoji="0" lang="en-US" altLang="en-US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EduSkills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Curriculum Provided by: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AWS Academy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Grade:                                 </a:t>
            </a:r>
            <a:r>
              <a:rPr lang="en-US" altLang="en-US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en-IN" sz="25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9" name="Picture 5" descr="Notes from my Google Cloud Professional Data Engineer Exam | by sathish vj  | Medium">
            <a:extLst>
              <a:ext uri="{FF2B5EF4-FFF2-40B4-BE49-F238E27FC236}">
                <a16:creationId xmlns:a16="http://schemas.microsoft.com/office/drawing/2014/main" id="{B7E4DF27-C6AB-6CD5-4817-45CA4837A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3126" y="4252594"/>
            <a:ext cx="2604074" cy="224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7392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31FC7A5-2041-BF2E-6EAB-C4B1D8226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Introduction, Objectives, and Problem Statement</a:t>
            </a:r>
            <a:br>
              <a:rPr lang="en-US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25BA169-FFDD-09F7-F550-49D4F37F0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1" y="2191344"/>
            <a:ext cx="11072148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  <a:r>
              <a:rPr lang="en-US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transition from localized, manual systems to a centralized, automated infrastructure.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Objectives: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Data Management, Pipeline Automation, Data Quality And Performance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Project: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objective of 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this Cloud Virtual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project was to design and implement a complete Extract, Transform, Load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(ETL)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utilizing modern cloud services.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805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CAC1F-8085-E133-337F-122BC4389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Technology and Description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39B5159-0434-F5D0-8C8E-E7652CD8C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583318"/>
            <a:ext cx="11083724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Curriculum Provider:</a:t>
            </a:r>
            <a:r>
              <a:rPr lang="en-US" altLang="en-US" sz="2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Academy.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Focus:</a:t>
            </a:r>
            <a:r>
              <a:rPr lang="en-US" altLang="en-US" sz="2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a scalable, cloud-native </a:t>
            </a: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Extract, Transform, Load (ETL)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pipeline.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Cloud Platform:</a:t>
            </a:r>
            <a:r>
              <a:rPr lang="en-US" altLang="en-US" sz="2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Web Services (AWS).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3E0D248-B56D-A100-F8C0-7426A32549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465612"/>
              </p:ext>
            </p:extLst>
          </p:nvPr>
        </p:nvGraphicFramePr>
        <p:xfrm>
          <a:off x="0" y="3291840"/>
          <a:ext cx="12192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83271214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0328776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246250"/>
                    </a:ext>
                  </a:extLst>
                </a:gridCol>
              </a:tblGrid>
              <a:tr h="295048">
                <a:tc>
                  <a:txBody>
                    <a:bodyPr/>
                    <a:lstStyle/>
                    <a:p>
                      <a:r>
                        <a:rPr lang="en-IN" dirty="0"/>
                        <a:t>        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Purpose in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Relevant AWS Services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4276"/>
                  </a:ext>
                </a:extLst>
              </a:tr>
              <a:tr h="516334">
                <a:tc>
                  <a:txBody>
                    <a:bodyPr/>
                    <a:lstStyle/>
                    <a:p>
                      <a:r>
                        <a:rPr lang="en-IN" dirty="0"/>
                        <a:t>Data Lake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Centralized, durable storage for raw and processed data.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Amazon S3 (Simple Storage Service)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9224120"/>
                  </a:ext>
                </a:extLst>
              </a:tr>
              <a:tr h="516334">
                <a:tc>
                  <a:txBody>
                    <a:bodyPr/>
                    <a:lstStyle/>
                    <a:p>
                      <a:r>
                        <a:rPr lang="en-IN" dirty="0"/>
                        <a:t>Data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Serverless compute environment for transformation and cleaning.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AWS Glue or Amazon EMR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379701"/>
                  </a:ext>
                </a:extLst>
              </a:tr>
              <a:tr h="516334">
                <a:tc>
                  <a:txBody>
                    <a:bodyPr/>
                    <a:lstStyle/>
                    <a:p>
                      <a:r>
                        <a:rPr lang="en-IN" dirty="0"/>
                        <a:t>Orchestration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Automating and scheduling the sequential workflow of ETL jobs.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AWS Step Functions / AWS Lambda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286317"/>
                  </a:ext>
                </a:extLst>
              </a:tr>
              <a:tr h="516334">
                <a:tc>
                  <a:txBody>
                    <a:bodyPr/>
                    <a:lstStyle/>
                    <a:p>
                      <a:r>
                        <a:rPr lang="en-IN" dirty="0"/>
                        <a:t>Metadata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Creating a catalog of data schemas for discoverability and querying.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AWS Glue Data </a:t>
                      </a:r>
                      <a:r>
                        <a:rPr lang="en-IN" dirty="0" err="1"/>
                        <a:t>Catalog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574325"/>
                  </a:ext>
                </a:extLst>
              </a:tr>
              <a:tr h="516334">
                <a:tc>
                  <a:txBody>
                    <a:bodyPr/>
                    <a:lstStyle/>
                    <a:p>
                      <a:r>
                        <a:rPr lang="en-IN" dirty="0"/>
                        <a:t>Analytics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Querying structured data directly in the data lake.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Amazon Athena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997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5297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820AA-101B-7378-8399-5FA75689F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System Architecture and 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C5B87F-91CF-B1E2-EC05-A615455BA3C0}"/>
              </a:ext>
            </a:extLst>
          </p:cNvPr>
          <p:cNvSpPr txBox="1"/>
          <p:nvPr/>
        </p:nvSpPr>
        <p:spPr>
          <a:xfrm>
            <a:off x="253679" y="2072654"/>
            <a:ext cx="11100121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Architecture: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utilizes a Layered Cloud Data Lake Architecture for scalability and efficiency.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Raw Layer, Processing Layer and Curated Layer.</a:t>
            </a:r>
          </a:p>
          <a:p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Phase: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Mapped the logical flow of data, detailing all transformation stages and data movement within the cloud environment.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Agile-inspired, iterative methodology was followed, allowing for continuous integration and rapid testing of pipeline components.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 descr="System architecture Images - Free Download on Freepik">
            <a:extLst>
              <a:ext uri="{FF2B5EF4-FFF2-40B4-BE49-F238E27FC236}">
                <a16:creationId xmlns:a16="http://schemas.microsoft.com/office/drawing/2014/main" id="{B7B516C1-BAFD-7C52-2DB3-209A48118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9960" y="0"/>
            <a:ext cx="2352040" cy="2352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5784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DF33A-13D4-0E8F-96BA-E52648F13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5746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System Implementation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E92EEA-E5DF-BAD7-AE74-64FCC133D81D}"/>
              </a:ext>
            </a:extLst>
          </p:cNvPr>
          <p:cNvSpPr txBox="1"/>
          <p:nvPr/>
        </p:nvSpPr>
        <p:spPr>
          <a:xfrm>
            <a:off x="254643" y="1840375"/>
            <a:ext cx="10995949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Deployment: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Python-based automation scripts for resource extraction and loading into the storage layer</a:t>
            </a:r>
            <a:r>
              <a:rPr lang="en-US" sz="2800" dirty="0"/>
              <a:t>.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Automation: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Utilized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Lambda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Functions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create an end-to-end, orchestrated cloud pipeline.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Challenges: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Resolved Schema Drift issues to maintain consistency.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Mitigated Performance Bottlenecks to ensure optimal  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system speed.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103362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BD8B9-D490-A024-D559-81541A95B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2249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Results and Discussions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FF8460-A98C-CF01-0588-C482C80D8216}"/>
              </a:ext>
            </a:extLst>
          </p:cNvPr>
          <p:cNvSpPr txBox="1"/>
          <p:nvPr/>
        </p:nvSpPr>
        <p:spPr>
          <a:xfrm>
            <a:off x="337595" y="1645394"/>
            <a:ext cx="11516810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Outcomes: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outcome of the project was the successful design and implementation of a fully automated, end-to-end cloud pipeline using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Cloud services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system effectively managed the entire data lifecycle, from raw data ingestion to transformation and modeling for analytical use.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and Significance: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significance of the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Smart Irrigation Prediction System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lies in its ability to bridge the gap between advanced data engineering and environmental sustainability. By transitioning a local machine learning model into a scalable cloud infrastructure, the project achieves the following: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Impact and Sustainability, Technological Innovation, Economic Efficiency, etc.</a:t>
            </a:r>
          </a:p>
        </p:txBody>
      </p:sp>
    </p:spTree>
    <p:extLst>
      <p:ext uri="{BB962C8B-B14F-4D97-AF65-F5344CB8AC3E}">
        <p14:creationId xmlns:p14="http://schemas.microsoft.com/office/powerpoint/2010/main" val="3736368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DBAC7-8A1F-3DC9-413E-C95B583D0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Experiences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6F5B78-3031-40A6-0D85-210D5C9A6901}"/>
              </a:ext>
            </a:extLst>
          </p:cNvPr>
          <p:cNvSpPr txBox="1"/>
          <p:nvPr/>
        </p:nvSpPr>
        <p:spPr>
          <a:xfrm>
            <a:off x="838200" y="1904564"/>
            <a:ext cx="10875380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Knowledge Acquired:  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Data          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Architecture ETL/ELT Processes 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Data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Skills Learned: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Proficiency 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Problem-Solving Process Analysis</a:t>
            </a:r>
          </a:p>
          <a:p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Observed Attitudes: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Dependability      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Attention to Detail  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Adaptibility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</a:p>
        </p:txBody>
      </p:sp>
      <p:pic>
        <p:nvPicPr>
          <p:cNvPr id="8194" name="Picture 2" descr="Better Learning Experiences – Design – Engage – Assess ...">
            <a:extLst>
              <a:ext uri="{FF2B5EF4-FFF2-40B4-BE49-F238E27FC236}">
                <a16:creationId xmlns:a16="http://schemas.microsoft.com/office/drawing/2014/main" id="{4D712852-6AD1-8483-B0B6-4D71CD498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5900" y="2151063"/>
            <a:ext cx="3086100" cy="326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4090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656DD-7073-AAD1-531C-398A84A75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7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SWOT Analysis </a:t>
            </a:r>
            <a:br>
              <a:rPr lang="en-IN" sz="37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7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3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(AICTE - </a:t>
            </a:r>
            <a:r>
              <a:rPr lang="en-IN" sz="37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EduSkills</a:t>
            </a:r>
            <a:r>
              <a:rPr lang="en-IN" sz="3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Virtual  Internship Model)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503AF5-2FC1-8C18-90BC-034C98CA1D9B}"/>
              </a:ext>
            </a:extLst>
          </p:cNvPr>
          <p:cNvSpPr txBox="1"/>
          <p:nvPr/>
        </p:nvSpPr>
        <p:spPr>
          <a:xfrm>
            <a:off x="266217" y="1828800"/>
            <a:ext cx="1171357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Strengths: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Official Recognition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Industry-Relevant Curriculum 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Flexibility and Accessibility</a:t>
            </a:r>
          </a:p>
          <a:p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Weaknesses: 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Direct Mentorship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Reliance on Self-Discipline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Lack of Physical Workplace Experience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Opportunities:</a:t>
            </a:r>
            <a:r>
              <a:rPr lang="en-IN" sz="2800" dirty="0"/>
              <a:t> 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Demand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Government Initiatives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Scalability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7172" name="Picture 4" descr="4,900+ Swot Analysis Stock Photos, Pictures &amp; Royalty-Free ...">
            <a:extLst>
              <a:ext uri="{FF2B5EF4-FFF2-40B4-BE49-F238E27FC236}">
                <a16:creationId xmlns:a16="http://schemas.microsoft.com/office/drawing/2014/main" id="{1CBF2968-0A5B-45BB-A010-1D700C9D2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5030" y="2322830"/>
            <a:ext cx="3696970" cy="3366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7089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E1316-B2FE-4564-C6AC-F3941B04A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8955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Conclusion 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3B06AA9-2F43-6509-8C61-9946B1066C5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22030" y="1320601"/>
            <a:ext cx="10515601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industry internship focused on a Cloud-Based Smart Irrigation Prediction System was successfully completed, meeting its primary objectives of designing and implementing a scalable, automated, and robust ETL pipeline within a cloud environment.</a:t>
            </a:r>
            <a:r>
              <a:rPr lang="en-US" sz="2800" dirty="0"/>
              <a:t>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implementation serves as a reusable and robust template for future data initiatives in the cloud. By integrating AI/ML with cloud-native tools, the project addressed critical environmental challenges like water scarcity and data inaccessibility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5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Success: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project’s success is measured by the realization of a fully automated cloud architecture that handles the complete data lifecycle: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Automation, High Performance, Advanced Data Processing, etc.</a:t>
            </a:r>
            <a:endParaRPr kumimoji="0" lang="en-US" altLang="en-US" sz="25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3" name="Picture 3" descr="CONCLUSION Text, Written On Green Simple Circle Rubber ...">
            <a:extLst>
              <a:ext uri="{FF2B5EF4-FFF2-40B4-BE49-F238E27FC236}">
                <a16:creationId xmlns:a16="http://schemas.microsoft.com/office/drawing/2014/main" id="{506125FB-78A5-BE87-7022-E5A338A51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9127" y="5247318"/>
            <a:ext cx="1637332" cy="1390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5075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85C9D-73EC-2F10-CC8D-CCA35E9CD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69231"/>
          </a:xfrm>
        </p:spPr>
        <p:txBody>
          <a:bodyPr>
            <a:normAutofit/>
          </a:bodyPr>
          <a:lstStyle/>
          <a:p>
            <a:r>
              <a:rPr lang="en-US" sz="6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dobe Hebrew" panose="02040503050201020203" pitchFamily="18" charset="-79"/>
                <a:cs typeface="Adobe Hebrew" panose="02040503050201020203" pitchFamily="18" charset="-79"/>
              </a:rPr>
              <a:t>          </a:t>
            </a:r>
            <a:r>
              <a:rPr lang="en-US" sz="11000" b="1" dirty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Adobe Hebrew" panose="02040503050201020203" pitchFamily="18" charset="-79"/>
                <a:cs typeface="Adobe Hebrew" panose="02040503050201020203" pitchFamily="18" charset="-79"/>
              </a:rPr>
              <a:t>Thank </a:t>
            </a:r>
            <a:r>
              <a:rPr lang="en-US" sz="11000" b="1" dirty="0">
                <a:ln w="0"/>
                <a:solidFill>
                  <a:srgbClr val="0070C0"/>
                </a:solidFill>
                <a:effectLst>
                  <a:reflection blurRad="6350" stA="53000" endA="300" endPos="35500" dir="5400000" sy="-90000" algn="bl" rotWithShape="0"/>
                </a:effectLst>
                <a:latin typeface="Adobe Hebrew" panose="02040503050201020203" pitchFamily="18" charset="-79"/>
                <a:cs typeface="Adobe Hebrew" panose="02040503050201020203" pitchFamily="18" charset="-79"/>
              </a:rPr>
              <a:t>You!</a:t>
            </a:r>
            <a:r>
              <a:rPr lang="en-US" sz="11000" b="1" dirty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Adobe Hebrew" panose="02040503050201020203" pitchFamily="18" charset="-79"/>
                <a:cs typeface="Adobe Hebrew" panose="02040503050201020203" pitchFamily="18" charset="-79"/>
              </a:rPr>
              <a:t> </a:t>
            </a:r>
            <a:endParaRPr lang="en-IN" sz="11000" b="1" dirty="0">
              <a:ln w="0"/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  <a:latin typeface="Adobe Hebrew" panose="02040503050201020203" pitchFamily="18" charset="-79"/>
              <a:cs typeface="Adobe Hebrew" panose="02040503050201020203" pitchFamily="18" charset="-79"/>
            </a:endParaRP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24837E9C-FAD1-2B10-D986-6EB098B43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0" y="147320"/>
            <a:ext cx="1925320" cy="1925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Amazon Web Services Logo and symbol, meaning, history, PNG ...">
            <a:extLst>
              <a:ext uri="{FF2B5EF4-FFF2-40B4-BE49-F238E27FC236}">
                <a16:creationId xmlns:a16="http://schemas.microsoft.com/office/drawing/2014/main" id="{F41056D6-0E1A-E328-047C-E6C456F8B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5298" y="4745355"/>
            <a:ext cx="3106702" cy="1747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8976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342</TotalTime>
  <Words>735</Words>
  <Application>Microsoft Office PowerPoint</Application>
  <PresentationFormat>Widescreen</PresentationFormat>
  <Paragraphs>89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Adobe Arabic</vt:lpstr>
      <vt:lpstr>Adobe Hebrew</vt:lpstr>
      <vt:lpstr>Arial</vt:lpstr>
      <vt:lpstr>Arial Black</vt:lpstr>
      <vt:lpstr>Calibri</vt:lpstr>
      <vt:lpstr>Calibri Light</vt:lpstr>
      <vt:lpstr>Times New Roman</vt:lpstr>
      <vt:lpstr>Wingdings</vt:lpstr>
      <vt:lpstr>Office Theme</vt:lpstr>
      <vt:lpstr>BTech in Computer Science  And Engineering Industry Internship Report  Cloud Virtual Internship</vt:lpstr>
      <vt:lpstr>          VIRTUAL  INTERNSHIP SUMMARY                        Cloud Virtual Internship </vt:lpstr>
      <vt:lpstr>Introduction, Objectives, and Problem Statement </vt:lpstr>
      <vt:lpstr>                Core Technology and Description</vt:lpstr>
      <vt:lpstr>     System Architecture and Methodology</vt:lpstr>
      <vt:lpstr>                System Implementation</vt:lpstr>
      <vt:lpstr>               Results and Discussions </vt:lpstr>
      <vt:lpstr>                        Learning Experiences  </vt:lpstr>
      <vt:lpstr>                          SWOT Analysis     (AICTE - EduSkills Virtual  Internship Model)</vt:lpstr>
      <vt:lpstr>                              Conclusion </vt:lpstr>
      <vt:lpstr>          Thank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Rishabh Shukla 23SCSE1010088</dc:creator>
  <cp:lastModifiedBy>Rishabh Shukla 23SCSE1010088</cp:lastModifiedBy>
  <cp:revision>6</cp:revision>
  <dcterms:created xsi:type="dcterms:W3CDTF">2025-05-28T17:04:18Z</dcterms:created>
  <dcterms:modified xsi:type="dcterms:W3CDTF">2026-01-14T06:28:34Z</dcterms:modified>
</cp:coreProperties>
</file>